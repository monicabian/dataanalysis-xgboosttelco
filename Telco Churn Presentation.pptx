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4"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4557" y="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E296C-C569-FE27-4641-5874756CB7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47A6172-A471-5635-D7D2-7B5286E041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362C970D-AE52-3B6F-12F2-01C103734CD0}"/>
              </a:ext>
            </a:extLst>
          </p:cNvPr>
          <p:cNvSpPr>
            <a:spLocks noGrp="1"/>
          </p:cNvSpPr>
          <p:nvPr>
            <p:ph type="dt" sz="half" idx="10"/>
          </p:nvPr>
        </p:nvSpPr>
        <p:spPr/>
        <p:txBody>
          <a:bodyPr/>
          <a:lstStyle/>
          <a:p>
            <a:fld id="{F6B65FA2-A161-4215-800D-0CC82A11062D}" type="datetimeFigureOut">
              <a:rPr lang="en-AU" smtClean="0"/>
              <a:t>26/12/2025</a:t>
            </a:fld>
            <a:endParaRPr lang="en-AU"/>
          </a:p>
        </p:txBody>
      </p:sp>
      <p:sp>
        <p:nvSpPr>
          <p:cNvPr id="5" name="Footer Placeholder 4">
            <a:extLst>
              <a:ext uri="{FF2B5EF4-FFF2-40B4-BE49-F238E27FC236}">
                <a16:creationId xmlns:a16="http://schemas.microsoft.com/office/drawing/2014/main" id="{3B44CCAB-05D9-0DC8-3C10-F3052E7E46B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608E559-92C6-65DB-63A1-00853619FA45}"/>
              </a:ext>
            </a:extLst>
          </p:cNvPr>
          <p:cNvSpPr>
            <a:spLocks noGrp="1"/>
          </p:cNvSpPr>
          <p:nvPr>
            <p:ph type="sldNum" sz="quarter" idx="12"/>
          </p:nvPr>
        </p:nvSpPr>
        <p:spPr/>
        <p:txBody>
          <a:bodyPr/>
          <a:lstStyle/>
          <a:p>
            <a:fld id="{CC697DE6-033D-4ABD-A195-D8328B5B53BB}" type="slidenum">
              <a:rPr lang="en-AU" smtClean="0"/>
              <a:t>‹#›</a:t>
            </a:fld>
            <a:endParaRPr lang="en-AU"/>
          </a:p>
        </p:txBody>
      </p:sp>
    </p:spTree>
    <p:extLst>
      <p:ext uri="{BB962C8B-B14F-4D97-AF65-F5344CB8AC3E}">
        <p14:creationId xmlns:p14="http://schemas.microsoft.com/office/powerpoint/2010/main" val="2286786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DF445-7D3B-EA3C-C3E6-69C87C0C398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FFF0103-F5E8-B9B1-4A12-70C8329339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CFED0B1-5FBF-8FAA-5AA6-12461949E287}"/>
              </a:ext>
            </a:extLst>
          </p:cNvPr>
          <p:cNvSpPr>
            <a:spLocks noGrp="1"/>
          </p:cNvSpPr>
          <p:nvPr>
            <p:ph type="dt" sz="half" idx="10"/>
          </p:nvPr>
        </p:nvSpPr>
        <p:spPr/>
        <p:txBody>
          <a:bodyPr/>
          <a:lstStyle/>
          <a:p>
            <a:fld id="{F6B65FA2-A161-4215-800D-0CC82A11062D}" type="datetimeFigureOut">
              <a:rPr lang="en-AU" smtClean="0"/>
              <a:t>26/12/2025</a:t>
            </a:fld>
            <a:endParaRPr lang="en-AU"/>
          </a:p>
        </p:txBody>
      </p:sp>
      <p:sp>
        <p:nvSpPr>
          <p:cNvPr id="5" name="Footer Placeholder 4">
            <a:extLst>
              <a:ext uri="{FF2B5EF4-FFF2-40B4-BE49-F238E27FC236}">
                <a16:creationId xmlns:a16="http://schemas.microsoft.com/office/drawing/2014/main" id="{4FB92BEE-A549-0E6A-6421-0CD4C5A78F1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2EFCA7-5EFB-0E73-4D89-EBBBF0FF874F}"/>
              </a:ext>
            </a:extLst>
          </p:cNvPr>
          <p:cNvSpPr>
            <a:spLocks noGrp="1"/>
          </p:cNvSpPr>
          <p:nvPr>
            <p:ph type="sldNum" sz="quarter" idx="12"/>
          </p:nvPr>
        </p:nvSpPr>
        <p:spPr/>
        <p:txBody>
          <a:bodyPr/>
          <a:lstStyle/>
          <a:p>
            <a:fld id="{CC697DE6-033D-4ABD-A195-D8328B5B53BB}" type="slidenum">
              <a:rPr lang="en-AU" smtClean="0"/>
              <a:t>‹#›</a:t>
            </a:fld>
            <a:endParaRPr lang="en-AU"/>
          </a:p>
        </p:txBody>
      </p:sp>
    </p:spTree>
    <p:extLst>
      <p:ext uri="{BB962C8B-B14F-4D97-AF65-F5344CB8AC3E}">
        <p14:creationId xmlns:p14="http://schemas.microsoft.com/office/powerpoint/2010/main" val="3453598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5B92A-3B40-25EA-0E31-A1A9D43C36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18DDBB3-7378-2BF2-B68A-DCBE6E25B5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8F39CB-8263-DB7E-BD23-93415A152FC8}"/>
              </a:ext>
            </a:extLst>
          </p:cNvPr>
          <p:cNvSpPr>
            <a:spLocks noGrp="1"/>
          </p:cNvSpPr>
          <p:nvPr>
            <p:ph type="dt" sz="half" idx="10"/>
          </p:nvPr>
        </p:nvSpPr>
        <p:spPr/>
        <p:txBody>
          <a:bodyPr/>
          <a:lstStyle/>
          <a:p>
            <a:fld id="{F6B65FA2-A161-4215-800D-0CC82A11062D}" type="datetimeFigureOut">
              <a:rPr lang="en-AU" smtClean="0"/>
              <a:t>26/12/2025</a:t>
            </a:fld>
            <a:endParaRPr lang="en-AU"/>
          </a:p>
        </p:txBody>
      </p:sp>
      <p:sp>
        <p:nvSpPr>
          <p:cNvPr id="5" name="Footer Placeholder 4">
            <a:extLst>
              <a:ext uri="{FF2B5EF4-FFF2-40B4-BE49-F238E27FC236}">
                <a16:creationId xmlns:a16="http://schemas.microsoft.com/office/drawing/2014/main" id="{DAF0DB3B-EBAE-30FF-546B-C91E6779B38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524B137-AB21-7916-29CB-A450E3F01D15}"/>
              </a:ext>
            </a:extLst>
          </p:cNvPr>
          <p:cNvSpPr>
            <a:spLocks noGrp="1"/>
          </p:cNvSpPr>
          <p:nvPr>
            <p:ph type="sldNum" sz="quarter" idx="12"/>
          </p:nvPr>
        </p:nvSpPr>
        <p:spPr/>
        <p:txBody>
          <a:bodyPr/>
          <a:lstStyle/>
          <a:p>
            <a:fld id="{CC697DE6-033D-4ABD-A195-D8328B5B53BB}" type="slidenum">
              <a:rPr lang="en-AU" smtClean="0"/>
              <a:t>‹#›</a:t>
            </a:fld>
            <a:endParaRPr lang="en-AU"/>
          </a:p>
        </p:txBody>
      </p:sp>
    </p:spTree>
    <p:extLst>
      <p:ext uri="{BB962C8B-B14F-4D97-AF65-F5344CB8AC3E}">
        <p14:creationId xmlns:p14="http://schemas.microsoft.com/office/powerpoint/2010/main" val="2331859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2F179-DFA7-D945-CA17-245AE91FE38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E6BB13A-DE10-E3DA-BC5C-64242DD769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A29F26E4-F684-F616-DB1D-308D848206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142F93E-5585-9672-4BFF-EAD56266FAE5}"/>
              </a:ext>
            </a:extLst>
          </p:cNvPr>
          <p:cNvSpPr>
            <a:spLocks noGrp="1"/>
          </p:cNvSpPr>
          <p:nvPr>
            <p:ph type="dt" sz="half" idx="10"/>
          </p:nvPr>
        </p:nvSpPr>
        <p:spPr/>
        <p:txBody>
          <a:bodyPr/>
          <a:lstStyle/>
          <a:p>
            <a:fld id="{F6B65FA2-A161-4215-800D-0CC82A11062D}" type="datetimeFigureOut">
              <a:rPr lang="en-AU" smtClean="0"/>
              <a:t>26/12/2025</a:t>
            </a:fld>
            <a:endParaRPr lang="en-AU"/>
          </a:p>
        </p:txBody>
      </p:sp>
      <p:sp>
        <p:nvSpPr>
          <p:cNvPr id="6" name="Footer Placeholder 5">
            <a:extLst>
              <a:ext uri="{FF2B5EF4-FFF2-40B4-BE49-F238E27FC236}">
                <a16:creationId xmlns:a16="http://schemas.microsoft.com/office/drawing/2014/main" id="{97ED2524-BECA-7888-53AF-04E9898363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C81DFFE-98E6-ACE2-0102-817E4A1D8EB4}"/>
              </a:ext>
            </a:extLst>
          </p:cNvPr>
          <p:cNvSpPr>
            <a:spLocks noGrp="1"/>
          </p:cNvSpPr>
          <p:nvPr>
            <p:ph type="sldNum" sz="quarter" idx="12"/>
          </p:nvPr>
        </p:nvSpPr>
        <p:spPr/>
        <p:txBody>
          <a:bodyPr/>
          <a:lstStyle/>
          <a:p>
            <a:fld id="{CC697DE6-033D-4ABD-A195-D8328B5B53BB}" type="slidenum">
              <a:rPr lang="en-AU" smtClean="0"/>
              <a:t>‹#›</a:t>
            </a:fld>
            <a:endParaRPr lang="en-AU"/>
          </a:p>
        </p:txBody>
      </p:sp>
    </p:spTree>
    <p:extLst>
      <p:ext uri="{BB962C8B-B14F-4D97-AF65-F5344CB8AC3E}">
        <p14:creationId xmlns:p14="http://schemas.microsoft.com/office/powerpoint/2010/main" val="1728707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5A88-580B-F3FA-4594-4F166B62B2E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F263978-608E-5856-8244-24AD2917B3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83175B-FE49-38BB-FFCB-59A2038CA2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93FD70C-12F3-6830-BBA6-93ADFF6B57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1E70EF-06A5-2373-EE25-47AD11675A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0691270D-DF6D-F046-A25D-0B2375533169}"/>
              </a:ext>
            </a:extLst>
          </p:cNvPr>
          <p:cNvSpPr>
            <a:spLocks noGrp="1"/>
          </p:cNvSpPr>
          <p:nvPr>
            <p:ph type="dt" sz="half" idx="10"/>
          </p:nvPr>
        </p:nvSpPr>
        <p:spPr/>
        <p:txBody>
          <a:bodyPr/>
          <a:lstStyle/>
          <a:p>
            <a:fld id="{F6B65FA2-A161-4215-800D-0CC82A11062D}" type="datetimeFigureOut">
              <a:rPr lang="en-AU" smtClean="0"/>
              <a:t>26/12/2025</a:t>
            </a:fld>
            <a:endParaRPr lang="en-AU"/>
          </a:p>
        </p:txBody>
      </p:sp>
      <p:sp>
        <p:nvSpPr>
          <p:cNvPr id="8" name="Footer Placeholder 7">
            <a:extLst>
              <a:ext uri="{FF2B5EF4-FFF2-40B4-BE49-F238E27FC236}">
                <a16:creationId xmlns:a16="http://schemas.microsoft.com/office/drawing/2014/main" id="{C4EE5271-857C-7760-22FC-5231F4BF2E23}"/>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D6811600-AFC4-73A9-CE59-80FBCC9D672D}"/>
              </a:ext>
            </a:extLst>
          </p:cNvPr>
          <p:cNvSpPr>
            <a:spLocks noGrp="1"/>
          </p:cNvSpPr>
          <p:nvPr>
            <p:ph type="sldNum" sz="quarter" idx="12"/>
          </p:nvPr>
        </p:nvSpPr>
        <p:spPr/>
        <p:txBody>
          <a:bodyPr/>
          <a:lstStyle/>
          <a:p>
            <a:fld id="{CC697DE6-033D-4ABD-A195-D8328B5B53BB}" type="slidenum">
              <a:rPr lang="en-AU" smtClean="0"/>
              <a:t>‹#›</a:t>
            </a:fld>
            <a:endParaRPr lang="en-AU"/>
          </a:p>
        </p:txBody>
      </p:sp>
    </p:spTree>
    <p:extLst>
      <p:ext uri="{BB962C8B-B14F-4D97-AF65-F5344CB8AC3E}">
        <p14:creationId xmlns:p14="http://schemas.microsoft.com/office/powerpoint/2010/main" val="2134144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553B9-FEF1-3CAF-50DA-95ABB5EFDE84}"/>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8FAA1CFA-5416-C662-5A29-414D18DE85E7}"/>
              </a:ext>
            </a:extLst>
          </p:cNvPr>
          <p:cNvSpPr>
            <a:spLocks noGrp="1"/>
          </p:cNvSpPr>
          <p:nvPr>
            <p:ph type="dt" sz="half" idx="10"/>
          </p:nvPr>
        </p:nvSpPr>
        <p:spPr/>
        <p:txBody>
          <a:bodyPr/>
          <a:lstStyle/>
          <a:p>
            <a:fld id="{F6B65FA2-A161-4215-800D-0CC82A11062D}" type="datetimeFigureOut">
              <a:rPr lang="en-AU" smtClean="0"/>
              <a:t>26/12/2025</a:t>
            </a:fld>
            <a:endParaRPr lang="en-AU"/>
          </a:p>
        </p:txBody>
      </p:sp>
      <p:sp>
        <p:nvSpPr>
          <p:cNvPr id="4" name="Footer Placeholder 3">
            <a:extLst>
              <a:ext uri="{FF2B5EF4-FFF2-40B4-BE49-F238E27FC236}">
                <a16:creationId xmlns:a16="http://schemas.microsoft.com/office/drawing/2014/main" id="{94EBCC0D-4855-3298-14ED-938DB3134E1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69DEBE2C-686E-9781-1524-17E664F22224}"/>
              </a:ext>
            </a:extLst>
          </p:cNvPr>
          <p:cNvSpPr>
            <a:spLocks noGrp="1"/>
          </p:cNvSpPr>
          <p:nvPr>
            <p:ph type="sldNum" sz="quarter" idx="12"/>
          </p:nvPr>
        </p:nvSpPr>
        <p:spPr/>
        <p:txBody>
          <a:bodyPr/>
          <a:lstStyle/>
          <a:p>
            <a:fld id="{CC697DE6-033D-4ABD-A195-D8328B5B53BB}" type="slidenum">
              <a:rPr lang="en-AU" smtClean="0"/>
              <a:t>‹#›</a:t>
            </a:fld>
            <a:endParaRPr lang="en-AU"/>
          </a:p>
        </p:txBody>
      </p:sp>
    </p:spTree>
    <p:extLst>
      <p:ext uri="{BB962C8B-B14F-4D97-AF65-F5344CB8AC3E}">
        <p14:creationId xmlns:p14="http://schemas.microsoft.com/office/powerpoint/2010/main" val="284683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7BF4F9-0E90-BBBD-7B50-DE8EA859DF85}"/>
              </a:ext>
            </a:extLst>
          </p:cNvPr>
          <p:cNvSpPr>
            <a:spLocks noGrp="1"/>
          </p:cNvSpPr>
          <p:nvPr>
            <p:ph type="dt" sz="half" idx="10"/>
          </p:nvPr>
        </p:nvSpPr>
        <p:spPr/>
        <p:txBody>
          <a:bodyPr/>
          <a:lstStyle/>
          <a:p>
            <a:fld id="{F6B65FA2-A161-4215-800D-0CC82A11062D}" type="datetimeFigureOut">
              <a:rPr lang="en-AU" smtClean="0"/>
              <a:t>26/12/2025</a:t>
            </a:fld>
            <a:endParaRPr lang="en-AU"/>
          </a:p>
        </p:txBody>
      </p:sp>
      <p:sp>
        <p:nvSpPr>
          <p:cNvPr id="3" name="Footer Placeholder 2">
            <a:extLst>
              <a:ext uri="{FF2B5EF4-FFF2-40B4-BE49-F238E27FC236}">
                <a16:creationId xmlns:a16="http://schemas.microsoft.com/office/drawing/2014/main" id="{00C3BEEE-3A6C-02E5-38D3-EFA2028889C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E338A0F1-8B41-BE3F-C6DC-225544E8F755}"/>
              </a:ext>
            </a:extLst>
          </p:cNvPr>
          <p:cNvSpPr>
            <a:spLocks noGrp="1"/>
          </p:cNvSpPr>
          <p:nvPr>
            <p:ph type="sldNum" sz="quarter" idx="12"/>
          </p:nvPr>
        </p:nvSpPr>
        <p:spPr/>
        <p:txBody>
          <a:bodyPr/>
          <a:lstStyle/>
          <a:p>
            <a:fld id="{CC697DE6-033D-4ABD-A195-D8328B5B53BB}" type="slidenum">
              <a:rPr lang="en-AU" smtClean="0"/>
              <a:t>‹#›</a:t>
            </a:fld>
            <a:endParaRPr lang="en-AU"/>
          </a:p>
        </p:txBody>
      </p:sp>
    </p:spTree>
    <p:extLst>
      <p:ext uri="{BB962C8B-B14F-4D97-AF65-F5344CB8AC3E}">
        <p14:creationId xmlns:p14="http://schemas.microsoft.com/office/powerpoint/2010/main" val="1383923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1E870-3E09-A41C-FF4A-B47AD75354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CAF04CD6-FE2B-86D4-6781-E70FAE8C0F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B9DED2E0-2CB7-A104-54F4-507051A5D9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598961-5EA5-426B-7FB8-028C2BA255EA}"/>
              </a:ext>
            </a:extLst>
          </p:cNvPr>
          <p:cNvSpPr>
            <a:spLocks noGrp="1"/>
          </p:cNvSpPr>
          <p:nvPr>
            <p:ph type="dt" sz="half" idx="10"/>
          </p:nvPr>
        </p:nvSpPr>
        <p:spPr/>
        <p:txBody>
          <a:bodyPr/>
          <a:lstStyle/>
          <a:p>
            <a:fld id="{F6B65FA2-A161-4215-800D-0CC82A11062D}" type="datetimeFigureOut">
              <a:rPr lang="en-AU" smtClean="0"/>
              <a:t>26/12/2025</a:t>
            </a:fld>
            <a:endParaRPr lang="en-AU"/>
          </a:p>
        </p:txBody>
      </p:sp>
      <p:sp>
        <p:nvSpPr>
          <p:cNvPr id="6" name="Footer Placeholder 5">
            <a:extLst>
              <a:ext uri="{FF2B5EF4-FFF2-40B4-BE49-F238E27FC236}">
                <a16:creationId xmlns:a16="http://schemas.microsoft.com/office/drawing/2014/main" id="{CEF1CC1E-C820-6EC4-CA36-3803FAF80A9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FAD5BBC-BFBE-B43B-7989-D76A73965403}"/>
              </a:ext>
            </a:extLst>
          </p:cNvPr>
          <p:cNvSpPr>
            <a:spLocks noGrp="1"/>
          </p:cNvSpPr>
          <p:nvPr>
            <p:ph type="sldNum" sz="quarter" idx="12"/>
          </p:nvPr>
        </p:nvSpPr>
        <p:spPr/>
        <p:txBody>
          <a:bodyPr/>
          <a:lstStyle/>
          <a:p>
            <a:fld id="{CC697DE6-033D-4ABD-A195-D8328B5B53BB}" type="slidenum">
              <a:rPr lang="en-AU" smtClean="0"/>
              <a:t>‹#›</a:t>
            </a:fld>
            <a:endParaRPr lang="en-AU"/>
          </a:p>
        </p:txBody>
      </p:sp>
    </p:spTree>
    <p:extLst>
      <p:ext uri="{BB962C8B-B14F-4D97-AF65-F5344CB8AC3E}">
        <p14:creationId xmlns:p14="http://schemas.microsoft.com/office/powerpoint/2010/main" val="887029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CF646-6AA8-3428-ABAA-29441AE0E9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7F7EAFB1-0FDB-A5E0-A920-5AFE3F7B97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E6D8C446-D9CE-C4DA-9220-69735E4885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AE7E04-2DD1-9BD7-5FEF-DF86E9A1A785}"/>
              </a:ext>
            </a:extLst>
          </p:cNvPr>
          <p:cNvSpPr>
            <a:spLocks noGrp="1"/>
          </p:cNvSpPr>
          <p:nvPr>
            <p:ph type="dt" sz="half" idx="10"/>
          </p:nvPr>
        </p:nvSpPr>
        <p:spPr/>
        <p:txBody>
          <a:bodyPr/>
          <a:lstStyle/>
          <a:p>
            <a:fld id="{F6B65FA2-A161-4215-800D-0CC82A11062D}" type="datetimeFigureOut">
              <a:rPr lang="en-AU" smtClean="0"/>
              <a:t>26/12/2025</a:t>
            </a:fld>
            <a:endParaRPr lang="en-AU"/>
          </a:p>
        </p:txBody>
      </p:sp>
      <p:sp>
        <p:nvSpPr>
          <p:cNvPr id="6" name="Footer Placeholder 5">
            <a:extLst>
              <a:ext uri="{FF2B5EF4-FFF2-40B4-BE49-F238E27FC236}">
                <a16:creationId xmlns:a16="http://schemas.microsoft.com/office/drawing/2014/main" id="{E6944EAA-51A3-88C9-8B7D-B5681B9CAD1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6910173-BCD0-F8CE-45EF-6F1AC6B545AA}"/>
              </a:ext>
            </a:extLst>
          </p:cNvPr>
          <p:cNvSpPr>
            <a:spLocks noGrp="1"/>
          </p:cNvSpPr>
          <p:nvPr>
            <p:ph type="sldNum" sz="quarter" idx="12"/>
          </p:nvPr>
        </p:nvSpPr>
        <p:spPr/>
        <p:txBody>
          <a:bodyPr/>
          <a:lstStyle/>
          <a:p>
            <a:fld id="{CC697DE6-033D-4ABD-A195-D8328B5B53BB}" type="slidenum">
              <a:rPr lang="en-AU" smtClean="0"/>
              <a:t>‹#›</a:t>
            </a:fld>
            <a:endParaRPr lang="en-AU"/>
          </a:p>
        </p:txBody>
      </p:sp>
    </p:spTree>
    <p:extLst>
      <p:ext uri="{BB962C8B-B14F-4D97-AF65-F5344CB8AC3E}">
        <p14:creationId xmlns:p14="http://schemas.microsoft.com/office/powerpoint/2010/main" val="3865789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C518D-AFDB-D5CE-29BE-64D4F83094CF}"/>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FFA8438-016E-B275-0475-CB90D720AE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D0CDE4C-E02C-12F2-B1C0-5A2F994AF58D}"/>
              </a:ext>
            </a:extLst>
          </p:cNvPr>
          <p:cNvSpPr>
            <a:spLocks noGrp="1"/>
          </p:cNvSpPr>
          <p:nvPr>
            <p:ph type="dt" sz="half" idx="10"/>
          </p:nvPr>
        </p:nvSpPr>
        <p:spPr/>
        <p:txBody>
          <a:bodyPr/>
          <a:lstStyle/>
          <a:p>
            <a:fld id="{F6B65FA2-A161-4215-800D-0CC82A11062D}" type="datetimeFigureOut">
              <a:rPr lang="en-AU" smtClean="0"/>
              <a:t>26/12/2025</a:t>
            </a:fld>
            <a:endParaRPr lang="en-AU"/>
          </a:p>
        </p:txBody>
      </p:sp>
      <p:sp>
        <p:nvSpPr>
          <p:cNvPr id="5" name="Footer Placeholder 4">
            <a:extLst>
              <a:ext uri="{FF2B5EF4-FFF2-40B4-BE49-F238E27FC236}">
                <a16:creationId xmlns:a16="http://schemas.microsoft.com/office/drawing/2014/main" id="{677AA91F-F7FB-82C7-32DC-B6FB7171402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C6A02B8-4595-1ED7-3E9B-C6AA95123ED2}"/>
              </a:ext>
            </a:extLst>
          </p:cNvPr>
          <p:cNvSpPr>
            <a:spLocks noGrp="1"/>
          </p:cNvSpPr>
          <p:nvPr>
            <p:ph type="sldNum" sz="quarter" idx="12"/>
          </p:nvPr>
        </p:nvSpPr>
        <p:spPr/>
        <p:txBody>
          <a:bodyPr/>
          <a:lstStyle/>
          <a:p>
            <a:fld id="{CC697DE6-033D-4ABD-A195-D8328B5B53BB}" type="slidenum">
              <a:rPr lang="en-AU" smtClean="0"/>
              <a:t>‹#›</a:t>
            </a:fld>
            <a:endParaRPr lang="en-AU"/>
          </a:p>
        </p:txBody>
      </p:sp>
    </p:spTree>
    <p:extLst>
      <p:ext uri="{BB962C8B-B14F-4D97-AF65-F5344CB8AC3E}">
        <p14:creationId xmlns:p14="http://schemas.microsoft.com/office/powerpoint/2010/main" val="2995478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0BBF0C-7FF3-78DA-A238-19ECA481490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D108EFA-FA56-FB29-2517-16D495EB9A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A21B0A3-A2BF-979A-EBDF-A8A36EA4B0FC}"/>
              </a:ext>
            </a:extLst>
          </p:cNvPr>
          <p:cNvSpPr>
            <a:spLocks noGrp="1"/>
          </p:cNvSpPr>
          <p:nvPr>
            <p:ph type="dt" sz="half" idx="10"/>
          </p:nvPr>
        </p:nvSpPr>
        <p:spPr/>
        <p:txBody>
          <a:bodyPr/>
          <a:lstStyle/>
          <a:p>
            <a:fld id="{F6B65FA2-A161-4215-800D-0CC82A11062D}" type="datetimeFigureOut">
              <a:rPr lang="en-AU" smtClean="0"/>
              <a:t>26/12/2025</a:t>
            </a:fld>
            <a:endParaRPr lang="en-AU"/>
          </a:p>
        </p:txBody>
      </p:sp>
      <p:sp>
        <p:nvSpPr>
          <p:cNvPr id="5" name="Footer Placeholder 4">
            <a:extLst>
              <a:ext uri="{FF2B5EF4-FFF2-40B4-BE49-F238E27FC236}">
                <a16:creationId xmlns:a16="http://schemas.microsoft.com/office/drawing/2014/main" id="{435D6719-E4BD-5327-0AEF-1C8D716FD82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A061DA0-8375-9CC8-9FF2-82D66E56729A}"/>
              </a:ext>
            </a:extLst>
          </p:cNvPr>
          <p:cNvSpPr>
            <a:spLocks noGrp="1"/>
          </p:cNvSpPr>
          <p:nvPr>
            <p:ph type="sldNum" sz="quarter" idx="12"/>
          </p:nvPr>
        </p:nvSpPr>
        <p:spPr/>
        <p:txBody>
          <a:bodyPr/>
          <a:lstStyle/>
          <a:p>
            <a:fld id="{CC697DE6-033D-4ABD-A195-D8328B5B53BB}" type="slidenum">
              <a:rPr lang="en-AU" smtClean="0"/>
              <a:t>‹#›</a:t>
            </a:fld>
            <a:endParaRPr lang="en-AU"/>
          </a:p>
        </p:txBody>
      </p:sp>
    </p:spTree>
    <p:extLst>
      <p:ext uri="{BB962C8B-B14F-4D97-AF65-F5344CB8AC3E}">
        <p14:creationId xmlns:p14="http://schemas.microsoft.com/office/powerpoint/2010/main" val="2780171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538876-D5FE-967A-656D-1445562FEC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D2E1C65F-E294-7D8A-246F-6EDE9422F3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E5DB115-3480-2B1C-813E-9E8C61096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B65FA2-A161-4215-800D-0CC82A11062D}" type="datetimeFigureOut">
              <a:rPr lang="en-AU" smtClean="0"/>
              <a:t>26/12/2025</a:t>
            </a:fld>
            <a:endParaRPr lang="en-AU"/>
          </a:p>
        </p:txBody>
      </p:sp>
      <p:sp>
        <p:nvSpPr>
          <p:cNvPr id="5" name="Footer Placeholder 4">
            <a:extLst>
              <a:ext uri="{FF2B5EF4-FFF2-40B4-BE49-F238E27FC236}">
                <a16:creationId xmlns:a16="http://schemas.microsoft.com/office/drawing/2014/main" id="{9700A8CF-F103-6D59-E5F2-B1A6700EAB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4F25630C-D140-27BE-4ABB-A3EA87A0BA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697DE6-033D-4ABD-A195-D8328B5B53BB}" type="slidenum">
              <a:rPr lang="en-AU" smtClean="0"/>
              <a:t>‹#›</a:t>
            </a:fld>
            <a:endParaRPr lang="en-AU"/>
          </a:p>
        </p:txBody>
      </p:sp>
    </p:spTree>
    <p:extLst>
      <p:ext uri="{BB962C8B-B14F-4D97-AF65-F5344CB8AC3E}">
        <p14:creationId xmlns:p14="http://schemas.microsoft.com/office/powerpoint/2010/main" val="1453877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E9876-0B9A-85B2-D6BF-9581D2131053}"/>
              </a:ext>
            </a:extLst>
          </p:cNvPr>
          <p:cNvSpPr>
            <a:spLocks noGrp="1"/>
          </p:cNvSpPr>
          <p:nvPr>
            <p:ph type="title"/>
          </p:nvPr>
        </p:nvSpPr>
        <p:spPr/>
        <p:txBody>
          <a:bodyPr/>
          <a:lstStyle/>
          <a:p>
            <a:r>
              <a:rPr lang="en-AU" dirty="0"/>
              <a:t>Objective</a:t>
            </a:r>
          </a:p>
        </p:txBody>
      </p:sp>
      <p:sp>
        <p:nvSpPr>
          <p:cNvPr id="3" name="Content Placeholder 2">
            <a:extLst>
              <a:ext uri="{FF2B5EF4-FFF2-40B4-BE49-F238E27FC236}">
                <a16:creationId xmlns:a16="http://schemas.microsoft.com/office/drawing/2014/main" id="{86762013-BA7C-3B19-8054-FE6F0CB79283}"/>
              </a:ext>
            </a:extLst>
          </p:cNvPr>
          <p:cNvSpPr>
            <a:spLocks noGrp="1"/>
          </p:cNvSpPr>
          <p:nvPr>
            <p:ph idx="1"/>
          </p:nvPr>
        </p:nvSpPr>
        <p:spPr/>
        <p:txBody>
          <a:bodyPr/>
          <a:lstStyle/>
          <a:p>
            <a:r>
              <a:rPr lang="en-AU" dirty="0"/>
              <a:t>This project aims to predict customer churn using historical telecom usage data. Early identification of customers at risk of leaving allows the company to design targeted retention campaigns and reduce revenue loss.</a:t>
            </a:r>
          </a:p>
          <a:p>
            <a:r>
              <a:rPr lang="en-AU" dirty="0"/>
              <a:t>The objective is to develop a predictive model that accurately identifies customers likely to churn, and to uncover key factors influencing churn behaviour.</a:t>
            </a:r>
          </a:p>
          <a:p>
            <a:endParaRPr lang="en-AU" dirty="0"/>
          </a:p>
        </p:txBody>
      </p:sp>
    </p:spTree>
    <p:extLst>
      <p:ext uri="{BB962C8B-B14F-4D97-AF65-F5344CB8AC3E}">
        <p14:creationId xmlns:p14="http://schemas.microsoft.com/office/powerpoint/2010/main" val="3627994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1749F-CAB6-8930-B364-CEEA5489122E}"/>
              </a:ext>
            </a:extLst>
          </p:cNvPr>
          <p:cNvSpPr>
            <a:spLocks noGrp="1"/>
          </p:cNvSpPr>
          <p:nvPr>
            <p:ph type="title"/>
          </p:nvPr>
        </p:nvSpPr>
        <p:spPr/>
        <p:txBody>
          <a:bodyPr/>
          <a:lstStyle/>
          <a:p>
            <a:r>
              <a:rPr lang="en-AU" dirty="0" err="1"/>
              <a:t>XGBoost</a:t>
            </a:r>
            <a:endParaRPr lang="en-AU" dirty="0"/>
          </a:p>
        </p:txBody>
      </p:sp>
      <p:sp>
        <p:nvSpPr>
          <p:cNvPr id="3" name="Content Placeholder 2">
            <a:extLst>
              <a:ext uri="{FF2B5EF4-FFF2-40B4-BE49-F238E27FC236}">
                <a16:creationId xmlns:a16="http://schemas.microsoft.com/office/drawing/2014/main" id="{82BF3BA9-8E4E-F41E-01C8-C3FC273A9768}"/>
              </a:ext>
            </a:extLst>
          </p:cNvPr>
          <p:cNvSpPr>
            <a:spLocks noGrp="1"/>
          </p:cNvSpPr>
          <p:nvPr>
            <p:ph idx="1"/>
          </p:nvPr>
        </p:nvSpPr>
        <p:spPr>
          <a:xfrm>
            <a:off x="838200" y="1315960"/>
            <a:ext cx="10515600" cy="4351338"/>
          </a:xfrm>
        </p:spPr>
        <p:txBody>
          <a:bodyPr/>
          <a:lstStyle/>
          <a:p>
            <a:r>
              <a:rPr lang="en-AU" dirty="0" err="1"/>
              <a:t>XGBoost</a:t>
            </a:r>
            <a:r>
              <a:rPr lang="en-AU" dirty="0"/>
              <a:t> (Extreme Gradient Boosting) optimized machine learning library that uses an advanced form of gradient boosting to solve supervised learning problems like classification and regression. </a:t>
            </a:r>
          </a:p>
          <a:p>
            <a:r>
              <a:rPr lang="en-AU" dirty="0"/>
              <a:t>This was employed over other predictive models such as Random Forest due to its robustness, ability to handle mixed data types, and effectiveness with imbalanced classification tasks.</a:t>
            </a:r>
          </a:p>
          <a:p>
            <a:endParaRPr lang="en-AU" dirty="0"/>
          </a:p>
        </p:txBody>
      </p:sp>
      <p:pic>
        <p:nvPicPr>
          <p:cNvPr id="1026" name="Picture 2" descr="XGBoost: its Genealogy, its Architectural Features, and its Innovation |  Towards Data Science">
            <a:extLst>
              <a:ext uri="{FF2B5EF4-FFF2-40B4-BE49-F238E27FC236}">
                <a16:creationId xmlns:a16="http://schemas.microsoft.com/office/drawing/2014/main" id="{7BC23178-CA5A-F2C6-F1DB-03BEA05A20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2471" y="3933957"/>
            <a:ext cx="4771869" cy="2684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26552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E9684-2021-CCA7-CB50-FFD7141F5B38}"/>
              </a:ext>
            </a:extLst>
          </p:cNvPr>
          <p:cNvSpPr>
            <a:spLocks noGrp="1"/>
          </p:cNvSpPr>
          <p:nvPr>
            <p:ph type="title"/>
          </p:nvPr>
        </p:nvSpPr>
        <p:spPr/>
        <p:txBody>
          <a:bodyPr/>
          <a:lstStyle/>
          <a:p>
            <a:r>
              <a:rPr lang="en-AU" dirty="0"/>
              <a:t>Feature Selection/Data Cleaning</a:t>
            </a:r>
          </a:p>
        </p:txBody>
      </p:sp>
      <p:pic>
        <p:nvPicPr>
          <p:cNvPr id="7" name="Content Placeholder 6">
            <a:extLst>
              <a:ext uri="{FF2B5EF4-FFF2-40B4-BE49-F238E27FC236}">
                <a16:creationId xmlns:a16="http://schemas.microsoft.com/office/drawing/2014/main" id="{4E415F6E-4771-F90D-9996-165F888E6A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3853" y="3290341"/>
            <a:ext cx="8128658" cy="2198883"/>
          </a:xfrm>
        </p:spPr>
      </p:pic>
      <p:sp>
        <p:nvSpPr>
          <p:cNvPr id="11" name="Content Placeholder 2">
            <a:extLst>
              <a:ext uri="{FF2B5EF4-FFF2-40B4-BE49-F238E27FC236}">
                <a16:creationId xmlns:a16="http://schemas.microsoft.com/office/drawing/2014/main" id="{E175B74B-7409-58AE-D6A5-485A065F0DB8}"/>
              </a:ext>
            </a:extLst>
          </p:cNvPr>
          <p:cNvSpPr txBox="1">
            <a:spLocks/>
          </p:cNvSpPr>
          <p:nvPr/>
        </p:nvSpPr>
        <p:spPr>
          <a:xfrm>
            <a:off x="748259" y="154830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New features were added (</a:t>
            </a:r>
            <a:r>
              <a:rPr lang="en-AU" dirty="0" err="1"/>
              <a:t>e.g</a:t>
            </a:r>
            <a:r>
              <a:rPr lang="en-AU" dirty="0"/>
              <a:t> Total call duration, cost per minute)</a:t>
            </a:r>
          </a:p>
          <a:p>
            <a:r>
              <a:rPr lang="en-AU" dirty="0"/>
              <a:t>Existing features required encoding before they can be categorised by </a:t>
            </a:r>
            <a:r>
              <a:rPr lang="en-AU" dirty="0" err="1"/>
              <a:t>XGBoost</a:t>
            </a:r>
            <a:endParaRPr lang="en-AU" dirty="0"/>
          </a:p>
          <a:p>
            <a:endParaRPr lang="en-AU" dirty="0"/>
          </a:p>
        </p:txBody>
      </p:sp>
    </p:spTree>
    <p:extLst>
      <p:ext uri="{BB962C8B-B14F-4D97-AF65-F5344CB8AC3E}">
        <p14:creationId xmlns:p14="http://schemas.microsoft.com/office/powerpoint/2010/main" val="777804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B267B-B5A9-1EA0-DC86-4D889D5760F8}"/>
              </a:ext>
            </a:extLst>
          </p:cNvPr>
          <p:cNvSpPr>
            <a:spLocks noGrp="1"/>
          </p:cNvSpPr>
          <p:nvPr>
            <p:ph type="title"/>
          </p:nvPr>
        </p:nvSpPr>
        <p:spPr/>
        <p:txBody>
          <a:bodyPr/>
          <a:lstStyle/>
          <a:p>
            <a:r>
              <a:rPr lang="en-AU" dirty="0"/>
              <a:t>Evaluation</a:t>
            </a:r>
          </a:p>
        </p:txBody>
      </p:sp>
      <p:graphicFrame>
        <p:nvGraphicFramePr>
          <p:cNvPr id="4" name="Content Placeholder 3">
            <a:extLst>
              <a:ext uri="{FF2B5EF4-FFF2-40B4-BE49-F238E27FC236}">
                <a16:creationId xmlns:a16="http://schemas.microsoft.com/office/drawing/2014/main" id="{D49FA24B-E8E8-AD7E-6682-D24E7BEBAF4E}"/>
              </a:ext>
            </a:extLst>
          </p:cNvPr>
          <p:cNvGraphicFramePr>
            <a:graphicFrameLocks noGrp="1"/>
          </p:cNvGraphicFramePr>
          <p:nvPr>
            <p:ph idx="1"/>
            <p:extLst>
              <p:ext uri="{D42A27DB-BD31-4B8C-83A1-F6EECF244321}">
                <p14:modId xmlns:p14="http://schemas.microsoft.com/office/powerpoint/2010/main" val="186247979"/>
              </p:ext>
            </p:extLst>
          </p:nvPr>
        </p:nvGraphicFramePr>
        <p:xfrm>
          <a:off x="1857532" y="3518664"/>
          <a:ext cx="8476936" cy="2429248"/>
        </p:xfrm>
        <a:graphic>
          <a:graphicData uri="http://schemas.openxmlformats.org/drawingml/2006/table">
            <a:tbl>
              <a:tblPr firstRow="1" firstCol="1" bandRow="1">
                <a:tableStyleId>{5C22544A-7EE6-4342-B048-85BDC9FD1C3A}</a:tableStyleId>
              </a:tblPr>
              <a:tblGrid>
                <a:gridCol w="1544706">
                  <a:extLst>
                    <a:ext uri="{9D8B030D-6E8A-4147-A177-3AD203B41FA5}">
                      <a16:colId xmlns:a16="http://schemas.microsoft.com/office/drawing/2014/main" val="856172235"/>
                    </a:ext>
                  </a:extLst>
                </a:gridCol>
                <a:gridCol w="1678305">
                  <a:extLst>
                    <a:ext uri="{9D8B030D-6E8A-4147-A177-3AD203B41FA5}">
                      <a16:colId xmlns:a16="http://schemas.microsoft.com/office/drawing/2014/main" val="3504852320"/>
                    </a:ext>
                  </a:extLst>
                </a:gridCol>
                <a:gridCol w="5253925">
                  <a:extLst>
                    <a:ext uri="{9D8B030D-6E8A-4147-A177-3AD203B41FA5}">
                      <a16:colId xmlns:a16="http://schemas.microsoft.com/office/drawing/2014/main" val="4162573507"/>
                    </a:ext>
                  </a:extLst>
                </a:gridCol>
              </a:tblGrid>
              <a:tr h="584069">
                <a:tc>
                  <a:txBody>
                    <a:bodyPr/>
                    <a:lstStyle/>
                    <a:p>
                      <a:pPr>
                        <a:lnSpc>
                          <a:spcPct val="107000"/>
                        </a:lnSpc>
                        <a:spcAft>
                          <a:spcPts val="800"/>
                        </a:spcAft>
                        <a:buNone/>
                      </a:pPr>
                      <a:r>
                        <a:rPr lang="en-AU" sz="2000" kern="100" dirty="0">
                          <a:effectLst/>
                        </a:rPr>
                        <a:t>Metric</a:t>
                      </a:r>
                      <a:endParaRPr lang="en-AU"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2000" kern="100">
                          <a:effectLst/>
                        </a:rPr>
                        <a:t>Value</a:t>
                      </a:r>
                      <a:endParaRPr lang="en-AU"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2000" kern="100">
                          <a:effectLst/>
                        </a:rPr>
                        <a:t>Analysis</a:t>
                      </a:r>
                      <a:endParaRPr lang="en-AU"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96986954"/>
                  </a:ext>
                </a:extLst>
              </a:tr>
              <a:tr h="584069">
                <a:tc>
                  <a:txBody>
                    <a:bodyPr/>
                    <a:lstStyle/>
                    <a:p>
                      <a:pPr>
                        <a:lnSpc>
                          <a:spcPct val="107000"/>
                        </a:lnSpc>
                        <a:spcAft>
                          <a:spcPts val="800"/>
                        </a:spcAft>
                        <a:buNone/>
                      </a:pPr>
                      <a:r>
                        <a:rPr lang="en-AU" sz="2000" kern="100">
                          <a:effectLst/>
                        </a:rPr>
                        <a:t>Accuracy</a:t>
                      </a:r>
                      <a:endParaRPr lang="en-AU"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2000" kern="100">
                          <a:effectLst/>
                        </a:rPr>
                        <a:t>0.9535</a:t>
                      </a:r>
                      <a:endParaRPr lang="en-AU"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2000" kern="100">
                          <a:effectLst/>
                        </a:rPr>
                        <a:t>Overall 95% correct predictions</a:t>
                      </a:r>
                      <a:endParaRPr lang="en-AU"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93305213"/>
                  </a:ext>
                </a:extLst>
              </a:tr>
              <a:tr h="584069">
                <a:tc>
                  <a:txBody>
                    <a:bodyPr/>
                    <a:lstStyle/>
                    <a:p>
                      <a:pPr>
                        <a:lnSpc>
                          <a:spcPct val="107000"/>
                        </a:lnSpc>
                        <a:spcAft>
                          <a:spcPts val="800"/>
                        </a:spcAft>
                        <a:buNone/>
                      </a:pPr>
                      <a:r>
                        <a:rPr lang="en-AU" sz="2000" kern="100">
                          <a:effectLst/>
                        </a:rPr>
                        <a:t>AUC</a:t>
                      </a:r>
                      <a:endParaRPr lang="en-AU"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2000" kern="100">
                          <a:effectLst/>
                        </a:rPr>
                        <a:t>0.9046</a:t>
                      </a:r>
                      <a:endParaRPr lang="en-AU"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2000" kern="100">
                          <a:effectLst/>
                        </a:rPr>
                        <a:t>Strong ability to separate churners vs non-churners</a:t>
                      </a:r>
                      <a:endParaRPr lang="en-AU"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64552424"/>
                  </a:ext>
                </a:extLst>
              </a:tr>
              <a:tr h="285427">
                <a:tc>
                  <a:txBody>
                    <a:bodyPr/>
                    <a:lstStyle/>
                    <a:p>
                      <a:pPr>
                        <a:lnSpc>
                          <a:spcPct val="107000"/>
                        </a:lnSpc>
                        <a:spcAft>
                          <a:spcPts val="800"/>
                        </a:spcAft>
                        <a:buNone/>
                      </a:pPr>
                      <a:r>
                        <a:rPr lang="en-AU" sz="2000" kern="100" dirty="0">
                          <a:effectLst/>
                        </a:rPr>
                        <a:t>F1 </a:t>
                      </a:r>
                      <a:endParaRPr lang="en-AU"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2000" kern="100">
                          <a:effectLst/>
                        </a:rPr>
                        <a:t>0.83</a:t>
                      </a:r>
                      <a:endParaRPr lang="en-AU"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2000" kern="100">
                          <a:effectLst/>
                        </a:rPr>
                        <a:t>Balanced performance for churn prediction</a:t>
                      </a:r>
                      <a:endParaRPr lang="en-AU"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45816522"/>
                  </a:ext>
                </a:extLst>
              </a:tr>
              <a:tr h="285427">
                <a:tc>
                  <a:txBody>
                    <a:bodyPr/>
                    <a:lstStyle/>
                    <a:p>
                      <a:pPr>
                        <a:lnSpc>
                          <a:spcPct val="107000"/>
                        </a:lnSpc>
                        <a:spcAft>
                          <a:spcPts val="800"/>
                        </a:spcAft>
                        <a:buNone/>
                      </a:pPr>
                      <a:r>
                        <a:rPr lang="en-AU" sz="2000" kern="100">
                          <a:effectLst/>
                        </a:rPr>
                        <a:t>Recall</a:t>
                      </a:r>
                      <a:endParaRPr lang="en-AU"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2000" kern="100">
                          <a:effectLst/>
                        </a:rPr>
                        <a:t>0.79</a:t>
                      </a:r>
                      <a:endParaRPr lang="en-AU"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AU" sz="2000" kern="100" dirty="0">
                          <a:effectLst/>
                        </a:rPr>
                        <a:t>79% of actual churners detected</a:t>
                      </a:r>
                      <a:endParaRPr lang="en-AU"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35428875"/>
                  </a:ext>
                </a:extLst>
              </a:tr>
            </a:tbl>
          </a:graphicData>
        </a:graphic>
      </p:graphicFrame>
      <p:sp>
        <p:nvSpPr>
          <p:cNvPr id="5" name="Rectangle 1">
            <a:extLst>
              <a:ext uri="{FF2B5EF4-FFF2-40B4-BE49-F238E27FC236}">
                <a16:creationId xmlns:a16="http://schemas.microsoft.com/office/drawing/2014/main" id="{65F7DEC9-362F-6924-52E9-182B0B521965}"/>
              </a:ext>
            </a:extLst>
          </p:cNvPr>
          <p:cNvSpPr>
            <a:spLocks noChangeArrowheads="1"/>
          </p:cNvSpPr>
          <p:nvPr/>
        </p:nvSpPr>
        <p:spPr bwMode="auto">
          <a:xfrm>
            <a:off x="-2999160" y="208553"/>
            <a:ext cx="16810098"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AU" altLang="en-US" sz="900" b="0" i="1" u="none" strike="noStrike" cap="none" normalizeH="0" baseline="0">
                <a:ln>
                  <a:noFill/>
                </a:ln>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Table 1 Evaluation Results</a:t>
            </a:r>
            <a:endParaRPr kumimoji="0" lang="en-AU" altLang="en-US" sz="1800" b="0" i="0" u="none" strike="noStrike" cap="none" normalizeH="0" baseline="0">
              <a:ln>
                <a:noFill/>
              </a:ln>
              <a:solidFill>
                <a:schemeClr val="tx1"/>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8E731736-B398-2C1A-0A96-B4C8A68E845D}"/>
              </a:ext>
            </a:extLst>
          </p:cNvPr>
          <p:cNvSpPr txBox="1">
            <a:spLocks/>
          </p:cNvSpPr>
          <p:nvPr/>
        </p:nvSpPr>
        <p:spPr>
          <a:xfrm>
            <a:off x="748259" y="154830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Based on quantitative metrics, model was shown to be able to </a:t>
            </a:r>
            <a:r>
              <a:rPr lang="en-US" dirty="0"/>
              <a:t>correctly predict the majority of customer outcomes, distinguish churn and detect at-risk customers of that are leaving</a:t>
            </a:r>
          </a:p>
          <a:p>
            <a:pPr marL="0" indent="0">
              <a:buNone/>
            </a:pPr>
            <a:endParaRPr lang="en-AU" dirty="0"/>
          </a:p>
          <a:p>
            <a:endParaRPr lang="en-AU" dirty="0"/>
          </a:p>
        </p:txBody>
      </p:sp>
    </p:spTree>
    <p:extLst>
      <p:ext uri="{BB962C8B-B14F-4D97-AF65-F5344CB8AC3E}">
        <p14:creationId xmlns:p14="http://schemas.microsoft.com/office/powerpoint/2010/main" val="2900369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D74DE-42A1-5D76-B742-1C13F0B3DBFC}"/>
              </a:ext>
            </a:extLst>
          </p:cNvPr>
          <p:cNvSpPr>
            <a:spLocks noGrp="1"/>
          </p:cNvSpPr>
          <p:nvPr>
            <p:ph type="title"/>
          </p:nvPr>
        </p:nvSpPr>
        <p:spPr/>
        <p:txBody>
          <a:bodyPr/>
          <a:lstStyle/>
          <a:p>
            <a:r>
              <a:rPr lang="en-AU" dirty="0"/>
              <a:t>Evaluation 2</a:t>
            </a:r>
          </a:p>
        </p:txBody>
      </p:sp>
      <p:pic>
        <p:nvPicPr>
          <p:cNvPr id="4" name="Content Placeholder 3">
            <a:extLst>
              <a:ext uri="{FF2B5EF4-FFF2-40B4-BE49-F238E27FC236}">
                <a16:creationId xmlns:a16="http://schemas.microsoft.com/office/drawing/2014/main" id="{1CE52C3D-6243-EE89-089D-741066C4904F}"/>
              </a:ext>
            </a:extLst>
          </p:cNvPr>
          <p:cNvPicPr>
            <a:picLocks noGrp="1" noChangeAspect="1"/>
          </p:cNvPicPr>
          <p:nvPr>
            <p:ph idx="1"/>
          </p:nvPr>
        </p:nvPicPr>
        <p:blipFill>
          <a:blip r:embed="rId2"/>
          <a:stretch>
            <a:fillRect/>
          </a:stretch>
        </p:blipFill>
        <p:spPr>
          <a:xfrm>
            <a:off x="144436" y="2391959"/>
            <a:ext cx="4857750" cy="3743325"/>
          </a:xfrm>
          <a:prstGeom prst="rect">
            <a:avLst/>
          </a:prstGeom>
        </p:spPr>
      </p:pic>
      <p:pic>
        <p:nvPicPr>
          <p:cNvPr id="5" name="Picture 4">
            <a:extLst>
              <a:ext uri="{FF2B5EF4-FFF2-40B4-BE49-F238E27FC236}">
                <a16:creationId xmlns:a16="http://schemas.microsoft.com/office/drawing/2014/main" id="{8A8AD349-27CD-AB89-9473-160AF1D98CAE}"/>
              </a:ext>
            </a:extLst>
          </p:cNvPr>
          <p:cNvPicPr>
            <a:picLocks noChangeAspect="1"/>
          </p:cNvPicPr>
          <p:nvPr/>
        </p:nvPicPr>
        <p:blipFill>
          <a:blip r:embed="rId3"/>
          <a:stretch>
            <a:fillRect/>
          </a:stretch>
        </p:blipFill>
        <p:spPr>
          <a:xfrm>
            <a:off x="5425642" y="2391959"/>
            <a:ext cx="6621922" cy="3561109"/>
          </a:xfrm>
          <a:prstGeom prst="rect">
            <a:avLst/>
          </a:prstGeom>
        </p:spPr>
      </p:pic>
      <p:sp>
        <p:nvSpPr>
          <p:cNvPr id="3" name="TextBox 2">
            <a:extLst>
              <a:ext uri="{FF2B5EF4-FFF2-40B4-BE49-F238E27FC236}">
                <a16:creationId xmlns:a16="http://schemas.microsoft.com/office/drawing/2014/main" id="{29D91D89-97EE-6AD4-1DF8-D1E609ADDED3}"/>
              </a:ext>
            </a:extLst>
          </p:cNvPr>
          <p:cNvSpPr txBox="1"/>
          <p:nvPr/>
        </p:nvSpPr>
        <p:spPr>
          <a:xfrm>
            <a:off x="764498" y="1690688"/>
            <a:ext cx="3994879" cy="369332"/>
          </a:xfrm>
          <a:prstGeom prst="rect">
            <a:avLst/>
          </a:prstGeom>
          <a:noFill/>
        </p:spPr>
        <p:txBody>
          <a:bodyPr wrap="square" rtlCol="0">
            <a:spAutoFit/>
          </a:bodyPr>
          <a:lstStyle/>
          <a:p>
            <a:r>
              <a:rPr lang="en-AU" dirty="0"/>
              <a:t>Strong Performance in identifying churn </a:t>
            </a:r>
          </a:p>
        </p:txBody>
      </p:sp>
      <p:sp>
        <p:nvSpPr>
          <p:cNvPr id="6" name="TextBox 5">
            <a:extLst>
              <a:ext uri="{FF2B5EF4-FFF2-40B4-BE49-F238E27FC236}">
                <a16:creationId xmlns:a16="http://schemas.microsoft.com/office/drawing/2014/main" id="{6ABEFF4F-FDAC-278D-9731-4908F8F34E90}"/>
              </a:ext>
            </a:extLst>
          </p:cNvPr>
          <p:cNvSpPr txBox="1"/>
          <p:nvPr/>
        </p:nvSpPr>
        <p:spPr>
          <a:xfrm>
            <a:off x="6917961" y="1552189"/>
            <a:ext cx="4509541" cy="646331"/>
          </a:xfrm>
          <a:prstGeom prst="rect">
            <a:avLst/>
          </a:prstGeom>
          <a:noFill/>
        </p:spPr>
        <p:txBody>
          <a:bodyPr wrap="square" rtlCol="0">
            <a:spAutoFit/>
          </a:bodyPr>
          <a:lstStyle/>
          <a:p>
            <a:r>
              <a:rPr lang="en-AU" dirty="0"/>
              <a:t>International Callers and Frequent Customer Service Centre callers were strong indicators</a:t>
            </a:r>
          </a:p>
        </p:txBody>
      </p:sp>
    </p:spTree>
    <p:extLst>
      <p:ext uri="{BB962C8B-B14F-4D97-AF65-F5344CB8AC3E}">
        <p14:creationId xmlns:p14="http://schemas.microsoft.com/office/powerpoint/2010/main" val="2916254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9A026-2108-5365-9D90-346FCF8EC7FA}"/>
              </a:ext>
            </a:extLst>
          </p:cNvPr>
          <p:cNvSpPr>
            <a:spLocks noGrp="1"/>
          </p:cNvSpPr>
          <p:nvPr>
            <p:ph type="title"/>
          </p:nvPr>
        </p:nvSpPr>
        <p:spPr/>
        <p:txBody>
          <a:bodyPr/>
          <a:lstStyle/>
          <a:p>
            <a:r>
              <a:rPr lang="en-AU" dirty="0"/>
              <a:t>Recommendations</a:t>
            </a:r>
          </a:p>
        </p:txBody>
      </p:sp>
      <p:sp>
        <p:nvSpPr>
          <p:cNvPr id="3" name="Content Placeholder 2">
            <a:extLst>
              <a:ext uri="{FF2B5EF4-FFF2-40B4-BE49-F238E27FC236}">
                <a16:creationId xmlns:a16="http://schemas.microsoft.com/office/drawing/2014/main" id="{B57C2E6F-E413-DD55-782A-F56681183C3D}"/>
              </a:ext>
            </a:extLst>
          </p:cNvPr>
          <p:cNvSpPr>
            <a:spLocks noGrp="1"/>
          </p:cNvSpPr>
          <p:nvPr>
            <p:ph idx="1"/>
          </p:nvPr>
        </p:nvSpPr>
        <p:spPr/>
        <p:txBody>
          <a:bodyPr/>
          <a:lstStyle/>
          <a:p>
            <a:pPr marL="514350" indent="-514350">
              <a:buAutoNum type="arabicPeriod"/>
            </a:pPr>
            <a:r>
              <a:rPr lang="en-US" dirty="0"/>
              <a:t>Review and redesign international plans, improve transparency around costs, and introduce loyalty incentives or bundle offers for these customers. Targeted retention campaigns focusing on this high-risk group could substantially reduce overall churn. </a:t>
            </a:r>
          </a:p>
          <a:p>
            <a:pPr marL="514350" indent="-514350">
              <a:buAutoNum type="arabicPeriod"/>
            </a:pPr>
            <a:endParaRPr lang="en-US" dirty="0"/>
          </a:p>
          <a:p>
            <a:pPr marL="514350" indent="-514350">
              <a:buAutoNum type="arabicPeriod"/>
            </a:pPr>
            <a:r>
              <a:rPr lang="en-US" dirty="0"/>
              <a:t>Implement early-warning systems to identify and address these customers’ pain points could prevent churn before it occurs. </a:t>
            </a:r>
            <a:endParaRPr lang="en-AU" dirty="0"/>
          </a:p>
        </p:txBody>
      </p:sp>
    </p:spTree>
    <p:extLst>
      <p:ext uri="{BB962C8B-B14F-4D97-AF65-F5344CB8AC3E}">
        <p14:creationId xmlns:p14="http://schemas.microsoft.com/office/powerpoint/2010/main" val="3077075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43244-3A90-1C4F-FFFA-00CB75348081}"/>
              </a:ext>
            </a:extLst>
          </p:cNvPr>
          <p:cNvSpPr>
            <a:spLocks noGrp="1"/>
          </p:cNvSpPr>
          <p:nvPr>
            <p:ph type="title"/>
          </p:nvPr>
        </p:nvSpPr>
        <p:spPr/>
        <p:txBody>
          <a:bodyPr/>
          <a:lstStyle/>
          <a:p>
            <a:r>
              <a:rPr lang="en-AU" dirty="0"/>
              <a:t>Ethics Considerations</a:t>
            </a:r>
          </a:p>
        </p:txBody>
      </p:sp>
      <p:sp>
        <p:nvSpPr>
          <p:cNvPr id="3" name="Content Placeholder 2">
            <a:extLst>
              <a:ext uri="{FF2B5EF4-FFF2-40B4-BE49-F238E27FC236}">
                <a16:creationId xmlns:a16="http://schemas.microsoft.com/office/drawing/2014/main" id="{B463E308-15F7-538A-50FE-B750933F1BC5}"/>
              </a:ext>
            </a:extLst>
          </p:cNvPr>
          <p:cNvSpPr>
            <a:spLocks noGrp="1"/>
          </p:cNvSpPr>
          <p:nvPr>
            <p:ph idx="1"/>
          </p:nvPr>
        </p:nvSpPr>
        <p:spPr>
          <a:xfrm>
            <a:off x="838200" y="1548307"/>
            <a:ext cx="10515600" cy="4351338"/>
          </a:xfrm>
        </p:spPr>
        <p:txBody>
          <a:bodyPr/>
          <a:lstStyle/>
          <a:p>
            <a:r>
              <a:rPr lang="en-US" b="1" dirty="0"/>
              <a:t>Fairness - </a:t>
            </a:r>
            <a:r>
              <a:rPr lang="en-US" dirty="0"/>
              <a:t>model does not unfairly target customers from specific regions or demographics </a:t>
            </a:r>
          </a:p>
          <a:p>
            <a:endParaRPr lang="en-US" dirty="0"/>
          </a:p>
          <a:p>
            <a:r>
              <a:rPr lang="en-US" b="1" dirty="0"/>
              <a:t>Privacy – </a:t>
            </a:r>
            <a:r>
              <a:rPr lang="en-US" dirty="0"/>
              <a:t>remove sensitive customer information, such as phone numbers, to maintain confidentiality. </a:t>
            </a:r>
          </a:p>
          <a:p>
            <a:endParaRPr lang="en-US" b="1" dirty="0"/>
          </a:p>
          <a:p>
            <a:r>
              <a:rPr lang="en-US" b="1" dirty="0"/>
              <a:t>Responsible use </a:t>
            </a:r>
            <a:r>
              <a:rPr lang="en-US" dirty="0"/>
              <a:t>- ensuring that predictions are used to assist customer service teams rather than to </a:t>
            </a:r>
            <a:r>
              <a:rPr lang="en-US" dirty="0" err="1"/>
              <a:t>penalise</a:t>
            </a:r>
            <a:r>
              <a:rPr lang="en-US" dirty="0"/>
              <a:t> users</a:t>
            </a:r>
            <a:endParaRPr lang="en-AU" dirty="0"/>
          </a:p>
        </p:txBody>
      </p:sp>
    </p:spTree>
    <p:extLst>
      <p:ext uri="{BB962C8B-B14F-4D97-AF65-F5344CB8AC3E}">
        <p14:creationId xmlns:p14="http://schemas.microsoft.com/office/powerpoint/2010/main" val="3933836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4AA62-F022-7901-E90F-2B23854B21B3}"/>
              </a:ext>
            </a:extLst>
          </p:cNvPr>
          <p:cNvSpPr>
            <a:spLocks noGrp="1"/>
          </p:cNvSpPr>
          <p:nvPr>
            <p:ph type="title"/>
          </p:nvPr>
        </p:nvSpPr>
        <p:spPr/>
        <p:txBody>
          <a:bodyPr/>
          <a:lstStyle/>
          <a:p>
            <a:r>
              <a:rPr lang="en-AU" dirty="0"/>
              <a:t>Conclusion</a:t>
            </a:r>
          </a:p>
        </p:txBody>
      </p:sp>
      <p:sp>
        <p:nvSpPr>
          <p:cNvPr id="3" name="Content Placeholder 2">
            <a:extLst>
              <a:ext uri="{FF2B5EF4-FFF2-40B4-BE49-F238E27FC236}">
                <a16:creationId xmlns:a16="http://schemas.microsoft.com/office/drawing/2014/main" id="{8EB5C19A-1B30-2667-0758-11223592271D}"/>
              </a:ext>
            </a:extLst>
          </p:cNvPr>
          <p:cNvSpPr>
            <a:spLocks noGrp="1"/>
          </p:cNvSpPr>
          <p:nvPr>
            <p:ph idx="1"/>
          </p:nvPr>
        </p:nvSpPr>
        <p:spPr/>
        <p:txBody>
          <a:bodyPr/>
          <a:lstStyle/>
          <a:p>
            <a:r>
              <a:rPr lang="en-US" dirty="0"/>
              <a:t>The </a:t>
            </a:r>
            <a:r>
              <a:rPr lang="en-US" dirty="0" err="1"/>
              <a:t>XGBoost</a:t>
            </a:r>
            <a:r>
              <a:rPr lang="en-US" dirty="0"/>
              <a:t> churn model achieved </a:t>
            </a:r>
            <a:r>
              <a:rPr lang="en-US" b="1" dirty="0"/>
              <a:t>AUC = 0.90 </a:t>
            </a:r>
            <a:r>
              <a:rPr lang="en-US" dirty="0"/>
              <a:t>and </a:t>
            </a:r>
            <a:r>
              <a:rPr lang="en-US" b="1" dirty="0"/>
              <a:t>F1 = 0.83</a:t>
            </a:r>
            <a:r>
              <a:rPr lang="en-US" dirty="0"/>
              <a:t>, indicating strong predictive performance. </a:t>
            </a:r>
          </a:p>
          <a:p>
            <a:endParaRPr lang="en-US" dirty="0"/>
          </a:p>
          <a:p>
            <a:r>
              <a:rPr lang="en-US" dirty="0"/>
              <a:t>Key churn drivers include </a:t>
            </a:r>
            <a:r>
              <a:rPr lang="en-US" b="1" dirty="0"/>
              <a:t>customer service interactions </a:t>
            </a:r>
            <a:r>
              <a:rPr lang="en-US" dirty="0"/>
              <a:t>and frequent </a:t>
            </a:r>
            <a:r>
              <a:rPr lang="en-US" b="1" dirty="0"/>
              <a:t>international callers</a:t>
            </a:r>
            <a:r>
              <a:rPr lang="en-US" dirty="0"/>
              <a:t>. </a:t>
            </a:r>
          </a:p>
          <a:p>
            <a:endParaRPr lang="en-US" dirty="0"/>
          </a:p>
          <a:p>
            <a:r>
              <a:rPr lang="en-US" dirty="0"/>
              <a:t>With proper governance, the model can support </a:t>
            </a:r>
            <a:r>
              <a:rPr lang="en-US" b="1" dirty="0"/>
              <a:t>data-driven retention </a:t>
            </a:r>
            <a:r>
              <a:rPr lang="en-US" dirty="0"/>
              <a:t>strategies while maintaining ethical standards. </a:t>
            </a:r>
          </a:p>
          <a:p>
            <a:endParaRPr lang="en-AU" dirty="0"/>
          </a:p>
        </p:txBody>
      </p:sp>
    </p:spTree>
    <p:extLst>
      <p:ext uri="{BB962C8B-B14F-4D97-AF65-F5344CB8AC3E}">
        <p14:creationId xmlns:p14="http://schemas.microsoft.com/office/powerpoint/2010/main" val="4174162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TotalTime>
  <Words>390</Words>
  <Application>Microsoft Office PowerPoint</Application>
  <PresentationFormat>Widescreen</PresentationFormat>
  <Paragraphs>46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Objective</vt:lpstr>
      <vt:lpstr>XGBoost</vt:lpstr>
      <vt:lpstr>Feature Selection/Data Cleaning</vt:lpstr>
      <vt:lpstr>Evaluation</vt:lpstr>
      <vt:lpstr>Evaluation 2</vt:lpstr>
      <vt:lpstr>Recommendations</vt:lpstr>
      <vt:lpstr>Ethics Considerations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Tobey Hung</dc:creator>
  <cp:lastModifiedBy>Tobey Hung</cp:lastModifiedBy>
  <cp:revision>9</cp:revision>
  <dcterms:created xsi:type="dcterms:W3CDTF">2025-11-04T10:09:48Z</dcterms:created>
  <dcterms:modified xsi:type="dcterms:W3CDTF">2025-12-25T13:57:15Z</dcterms:modified>
</cp:coreProperties>
</file>